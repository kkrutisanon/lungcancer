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93" r:id="rId4"/>
    <p:sldId id="294" r:id="rId5"/>
    <p:sldId id="295" r:id="rId6"/>
    <p:sldId id="297" r:id="rId7"/>
    <p:sldId id="288" r:id="rId8"/>
    <p:sldId id="290" r:id="rId9"/>
    <p:sldId id="292" r:id="rId10"/>
    <p:sldId id="296" r:id="rId11"/>
    <p:sldId id="298" r:id="rId12"/>
    <p:sldId id="299" r:id="rId13"/>
    <p:sldId id="300" r:id="rId14"/>
    <p:sldId id="301" r:id="rId15"/>
    <p:sldId id="302"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A2A2-8C37-01C8-49A1-01C7A31631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AAB2A-4BBE-246B-1500-E5A59C7F4A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54B1E5-9581-2896-FF87-F9D118F57268}"/>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0A6B4D99-3A2B-C9ED-D1FC-4495F72EDB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C0895D-24DA-21BA-6D22-F803822506AF}"/>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593968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CB05E-83A0-535B-5E78-1E7D2B6175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AD4762-FBE4-9FB2-E813-2942F99828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C6CAAB-20D0-8C63-6100-1A45A359BD57}"/>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40F66ACE-BF5D-9B19-EDC9-C9C963B387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6A37D5-7BF8-D486-B8D6-969E166AE6D8}"/>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797783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42AD1-824D-AC64-7D11-D792247733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77B867-40EB-3563-5617-963BC7EF70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46E17-077A-767C-8275-56F10655B6BD}"/>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426EB7E9-1AFF-689D-256F-95C8B5116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E61957-53B3-D7CD-6BE2-43E1C9B5A4B3}"/>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648797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16162-2A97-9AF8-6C50-94D692FD7D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448EDA-D2C9-FC61-3C5F-E0410A1802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DC890E-090D-8EA7-DC78-F01FEE934C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9F4135-C09C-72B3-1E69-E866111C0D25}"/>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6" name="Footer Placeholder 5">
            <a:extLst>
              <a:ext uri="{FF2B5EF4-FFF2-40B4-BE49-F238E27FC236}">
                <a16:creationId xmlns:a16="http://schemas.microsoft.com/office/drawing/2014/main" id="{918FC9BD-80AE-3B0C-1565-919EF26BF5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BA9DAE-B9CF-0938-B67E-0CFBCF0DF772}"/>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3564145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7B8D-C4F7-14D6-1576-A3ACEB29BB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03DA72-AEB2-19E4-6159-58FFD29BE1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76592E-80F4-E620-726D-442322ADC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3195AD-0B17-73F3-C632-2BECD11F22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39CF8D-485A-05DD-C0F7-AAA8E1632C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FF6FC8-EAB7-02B3-E003-B61150DD5E57}"/>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8" name="Footer Placeholder 7">
            <a:extLst>
              <a:ext uri="{FF2B5EF4-FFF2-40B4-BE49-F238E27FC236}">
                <a16:creationId xmlns:a16="http://schemas.microsoft.com/office/drawing/2014/main" id="{B72CE7BE-BFE9-4F67-BCE7-62454E52FA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FBD22F-22C1-2064-6E61-B03B546824BF}"/>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3264781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7086-BB42-F7CD-FED9-5B7880F784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9FECE9-5AC9-E4E7-FD24-F966B35A97D7}"/>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4" name="Footer Placeholder 3">
            <a:extLst>
              <a:ext uri="{FF2B5EF4-FFF2-40B4-BE49-F238E27FC236}">
                <a16:creationId xmlns:a16="http://schemas.microsoft.com/office/drawing/2014/main" id="{BCA724F2-6465-0FD5-4426-87D26C051F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5D4FE7-B2B0-602C-1362-3DA9EDF9E33B}"/>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265983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65FF5-C2B3-FBC2-A584-2DDE3B8AEBB7}"/>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3" name="Footer Placeholder 2">
            <a:extLst>
              <a:ext uri="{FF2B5EF4-FFF2-40B4-BE49-F238E27FC236}">
                <a16:creationId xmlns:a16="http://schemas.microsoft.com/office/drawing/2014/main" id="{AFBF4CD9-2EBA-AFA4-D0CB-A71F118C33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9A0E77-08E8-F98F-2E18-7A23E262CF70}"/>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3737314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7CC1-2B54-5CD0-B053-8A78B8B18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9A0771-2D22-B0C8-7ED1-F705A1462B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0DF343-E3E9-AA4E-B074-A3FAF03F0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12CB47-B32A-16BA-B323-C76B1C0AB693}"/>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6" name="Footer Placeholder 5">
            <a:extLst>
              <a:ext uri="{FF2B5EF4-FFF2-40B4-BE49-F238E27FC236}">
                <a16:creationId xmlns:a16="http://schemas.microsoft.com/office/drawing/2014/main" id="{DDB9647E-64D8-35DF-04EE-6C41C62A81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742E9A-352D-14DA-18BA-5C4463F7453B}"/>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000032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F64A-F359-E0DE-52F1-1D619B1D1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E5BA90-F5C1-95B5-1F93-37F912A3BA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A603E8-DA6A-87F4-7EBA-A7FAD7E53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036D6C-2568-ABB0-2E05-1C04573DF51E}"/>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6" name="Footer Placeholder 5">
            <a:extLst>
              <a:ext uri="{FF2B5EF4-FFF2-40B4-BE49-F238E27FC236}">
                <a16:creationId xmlns:a16="http://schemas.microsoft.com/office/drawing/2014/main" id="{B819B086-85D6-C0B6-3F38-D7A1C310C0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99AAEA-9604-48B7-97A3-A03D6238BE0E}"/>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852423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2F0D2-9846-020F-6F8C-334ED44F87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6D3522-D298-C84B-2319-F83298BC80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C5ED38-FF6D-D994-7852-4F0F3D1BE0B3}"/>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799E39E8-DEF7-19E8-19AC-D8B4DB36A0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8237D6-01EB-A54C-B740-4E921914CEA0}"/>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207325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58578-1E3B-5B67-5142-EAAB72F6B9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C7A4A6-E010-CA1B-678E-EFEA1D4190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8AB55-4ADF-AFEF-8A8E-088D2B432518}"/>
              </a:ext>
            </a:extLst>
          </p:cNvPr>
          <p:cNvSpPr>
            <a:spLocks noGrp="1"/>
          </p:cNvSpPr>
          <p:nvPr>
            <p:ph type="dt" sz="half" idx="10"/>
          </p:nvPr>
        </p:nvSpPr>
        <p:spPr/>
        <p:txBody>
          <a:body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CD54E862-7FDD-7FC3-CCDB-153ACA07D8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C8F79E-FC7C-0EE3-FF2C-51D6C25F1933}"/>
              </a:ext>
            </a:extLst>
          </p:cNvPr>
          <p:cNvSpPr>
            <a:spLocks noGrp="1"/>
          </p:cNvSpPr>
          <p:nvPr>
            <p:ph type="sldNum" sz="quarter" idx="12"/>
          </p:nvPr>
        </p:nvSpPr>
        <p:spPr/>
        <p:txBody>
          <a:bodyPr/>
          <a:lstStyle/>
          <a:p>
            <a:fld id="{F6B510A2-5B93-4977-B469-A9B8EBB8386C}" type="slidenum">
              <a:rPr lang="en-IN" smtClean="0"/>
              <a:t>‹#›</a:t>
            </a:fld>
            <a:endParaRPr lang="en-IN"/>
          </a:p>
        </p:txBody>
      </p:sp>
    </p:spTree>
    <p:extLst>
      <p:ext uri="{BB962C8B-B14F-4D97-AF65-F5344CB8AC3E}">
        <p14:creationId xmlns:p14="http://schemas.microsoft.com/office/powerpoint/2010/main" val="1839370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BC6FB4-BD59-AD86-FF2A-EAD09622CA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E5B0EB-6C85-3FBA-1E90-C1AFAAF0C4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66393E-D6C3-CE84-B131-2CC218C02C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F882BE-DFFE-477D-AAA3-1F2E266B8362}" type="datetimeFigureOut">
              <a:rPr lang="en-IN" smtClean="0"/>
              <a:t>26-10-2024</a:t>
            </a:fld>
            <a:endParaRPr lang="en-IN"/>
          </a:p>
        </p:txBody>
      </p:sp>
      <p:sp>
        <p:nvSpPr>
          <p:cNvPr id="5" name="Footer Placeholder 4">
            <a:extLst>
              <a:ext uri="{FF2B5EF4-FFF2-40B4-BE49-F238E27FC236}">
                <a16:creationId xmlns:a16="http://schemas.microsoft.com/office/drawing/2014/main" id="{86836AE7-3FC8-4E0F-8909-B32B90918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25BBF2-F84C-F2A6-F018-8DB9B0F92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B510A2-5B93-4977-B469-A9B8EBB8386C}" type="slidenum">
              <a:rPr lang="en-IN" smtClean="0"/>
              <a:t>‹#›</a:t>
            </a:fld>
            <a:endParaRPr lang="en-IN"/>
          </a:p>
        </p:txBody>
      </p:sp>
    </p:spTree>
    <p:extLst>
      <p:ext uri="{BB962C8B-B14F-4D97-AF65-F5344CB8AC3E}">
        <p14:creationId xmlns:p14="http://schemas.microsoft.com/office/powerpoint/2010/main" val="404762831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my.clevelandclinic.org/health/symptoms/16942-dyspnea" TargetMode="External"/><Relationship Id="rId7" Type="http://schemas.openxmlformats.org/officeDocument/2006/relationships/hyperlink" Target="https://my.clevelandclinic.org/health/diseases/17770-unexplained-weight-loss" TargetMode="External"/><Relationship Id="rId2" Type="http://schemas.openxmlformats.org/officeDocument/2006/relationships/hyperlink" Target="https://my.clevelandclinic.org/health/symptoms/17755-cough" TargetMode="External"/><Relationship Id="rId1" Type="http://schemas.openxmlformats.org/officeDocument/2006/relationships/slideLayout" Target="../slideLayouts/slideLayout2.xml"/><Relationship Id="rId6" Type="http://schemas.openxmlformats.org/officeDocument/2006/relationships/hyperlink" Target="https://my.clevelandclinic.org/health/diseases/17105-hoarseness" TargetMode="External"/><Relationship Id="rId5" Type="http://schemas.openxmlformats.org/officeDocument/2006/relationships/hyperlink" Target="https://my.clevelandclinic.org/health/symptoms/17696-coughing-up-blood" TargetMode="External"/><Relationship Id="rId4" Type="http://schemas.openxmlformats.org/officeDocument/2006/relationships/hyperlink" Target="https://my.clevelandclinic.org/health/symptoms/15203-wheez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FDDADF70-87D1-1B2B-6B87-401AB000FBB6}"/>
              </a:ext>
            </a:extLst>
          </p:cNvPr>
          <p:cNvSpPr>
            <a:spLocks noGrp="1"/>
          </p:cNvSpPr>
          <p:nvPr>
            <p:ph type="subTitle" idx="1"/>
          </p:nvPr>
        </p:nvSpPr>
        <p:spPr>
          <a:xfrm>
            <a:off x="422988" y="3118217"/>
            <a:ext cx="4572000" cy="2864076"/>
          </a:xfrm>
        </p:spPr>
        <p:txBody>
          <a:bodyPr>
            <a:normAutofit/>
          </a:bodyPr>
          <a:lstStyle/>
          <a:p>
            <a:r>
              <a:rPr lang="en-US" sz="1800" b="1" dirty="0">
                <a:solidFill>
                  <a:srgbClr val="002060"/>
                </a:solidFill>
                <a:latin typeface="Cambria" panose="02040503050406030204" pitchFamily="18" charset="0"/>
                <a:ea typeface="Cambria" panose="02040503050406030204" pitchFamily="18" charset="0"/>
              </a:rPr>
              <a:t>Presented By:</a:t>
            </a:r>
          </a:p>
          <a:p>
            <a:r>
              <a:rPr lang="en-US" sz="1800" b="1" dirty="0">
                <a:solidFill>
                  <a:srgbClr val="002060"/>
                </a:solidFill>
                <a:latin typeface="Cambria" panose="02040503050406030204" pitchFamily="18" charset="0"/>
                <a:ea typeface="Cambria" panose="02040503050406030204" pitchFamily="18" charset="0"/>
              </a:rPr>
              <a:t>Name</a:t>
            </a:r>
          </a:p>
          <a:p>
            <a:endParaRPr lang="en-US" sz="1800" b="1" dirty="0">
              <a:solidFill>
                <a:srgbClr val="002060"/>
              </a:solidFill>
              <a:latin typeface="Cambria" panose="02040503050406030204" pitchFamily="18" charset="0"/>
              <a:ea typeface="Cambria" panose="02040503050406030204" pitchFamily="18" charset="0"/>
            </a:endParaRPr>
          </a:p>
          <a:p>
            <a:r>
              <a:rPr lang="en-US" sz="1800" b="1" dirty="0">
                <a:solidFill>
                  <a:srgbClr val="002060"/>
                </a:solidFill>
                <a:latin typeface="Cambria" panose="02040503050406030204" pitchFamily="18" charset="0"/>
                <a:ea typeface="Cambria" panose="02040503050406030204" pitchFamily="18" charset="0"/>
              </a:rPr>
              <a:t>Under the Guidance of </a:t>
            </a:r>
          </a:p>
          <a:p>
            <a:endParaRPr lang="en-US" sz="1800" b="1" dirty="0">
              <a:solidFill>
                <a:srgbClr val="002060"/>
              </a:solidFill>
              <a:latin typeface="Cambria" panose="02040503050406030204" pitchFamily="18" charset="0"/>
              <a:ea typeface="Cambria" panose="02040503050406030204" pitchFamily="18" charset="0"/>
            </a:endParaRPr>
          </a:p>
          <a:p>
            <a:endParaRPr lang="en-US" b="1" dirty="0">
              <a:solidFill>
                <a:srgbClr val="002060"/>
              </a:solidFill>
              <a:latin typeface="Cambria" panose="02040503050406030204" pitchFamily="18" charset="0"/>
              <a:ea typeface="Cambria" panose="02040503050406030204" pitchFamily="18" charset="0"/>
            </a:endParaRPr>
          </a:p>
          <a:p>
            <a:endParaRPr lang="en-US" b="1" dirty="0">
              <a:solidFill>
                <a:srgbClr val="002060"/>
              </a:solidFill>
              <a:latin typeface="Cambria" panose="02040503050406030204" pitchFamily="18" charset="0"/>
              <a:ea typeface="Cambria" panose="02040503050406030204" pitchFamily="18" charset="0"/>
            </a:endParaRPr>
          </a:p>
          <a:p>
            <a:endParaRPr lang="en-IN" b="1" dirty="0">
              <a:solidFill>
                <a:srgbClr val="002060"/>
              </a:solidFill>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1238FEDE-BC40-339A-2BD1-E1D90D6AC236}"/>
              </a:ext>
            </a:extLst>
          </p:cNvPr>
          <p:cNvGraphicFramePr>
            <a:graphicFrameLocks noGrp="1"/>
          </p:cNvGraphicFramePr>
          <p:nvPr>
            <p:extLst>
              <p:ext uri="{D42A27DB-BD31-4B8C-83A1-F6EECF244321}">
                <p14:modId xmlns:p14="http://schemas.microsoft.com/office/powerpoint/2010/main" val="1325023893"/>
              </p:ext>
            </p:extLst>
          </p:nvPr>
        </p:nvGraphicFramePr>
        <p:xfrm>
          <a:off x="1304730" y="1381258"/>
          <a:ext cx="10451841" cy="975360"/>
        </p:xfrm>
        <a:graphic>
          <a:graphicData uri="http://schemas.openxmlformats.org/drawingml/2006/table">
            <a:tbl>
              <a:tblPr>
                <a:tableStyleId>{5C22544A-7EE6-4342-B048-85BDC9FD1C3A}</a:tableStyleId>
              </a:tblPr>
              <a:tblGrid>
                <a:gridCol w="10451841">
                  <a:extLst>
                    <a:ext uri="{9D8B030D-6E8A-4147-A177-3AD203B41FA5}">
                      <a16:colId xmlns:a16="http://schemas.microsoft.com/office/drawing/2014/main" val="2546281570"/>
                    </a:ext>
                  </a:extLst>
                </a:gridCol>
              </a:tblGrid>
              <a:tr h="0">
                <a:tc>
                  <a:txBody>
                    <a:bodyPr/>
                    <a:lstStyle/>
                    <a:p>
                      <a:pPr algn="ctr"/>
                      <a:r>
                        <a:rPr lang="en-US" sz="3200" dirty="0">
                          <a:effectLst/>
                          <a:latin typeface="Aharoni" panose="02010803020104030203" pitchFamily="2" charset="-79"/>
                          <a:cs typeface="Aharoni" panose="02010803020104030203" pitchFamily="2" charset="-79"/>
                        </a:rPr>
                        <a:t>LUNG CANCER DETECTION AND ANALYSIS USING MACHINE LEARNING</a:t>
                      </a:r>
                      <a:endParaRPr lang="en-IN" sz="3200" dirty="0">
                        <a:effectLst/>
                        <a:latin typeface="Aharoni" panose="02010803020104030203" pitchFamily="2" charset="-79"/>
                        <a:ea typeface="Times New Roman" panose="02020603050405020304" pitchFamily="18" charset="0"/>
                        <a:cs typeface="Aharoni" panose="02010803020104030203" pitchFamily="2" charset="-79"/>
                      </a:endParaRPr>
                    </a:p>
                  </a:txBody>
                  <a:tcPr marL="114300" marR="114300" marT="0" marB="0"/>
                </a:tc>
                <a:extLst>
                  <a:ext uri="{0D108BD9-81ED-4DB2-BD59-A6C34878D82A}">
                    <a16:rowId xmlns:a16="http://schemas.microsoft.com/office/drawing/2014/main" val="4195718898"/>
                  </a:ext>
                </a:extLst>
              </a:tr>
            </a:tbl>
          </a:graphicData>
        </a:graphic>
      </p:graphicFrame>
      <p:pic>
        <p:nvPicPr>
          <p:cNvPr id="1028" name="Picture 4" descr="Illustration of trachea and lungs, showing large tumor in upper lobe of left lung.">
            <a:extLst>
              <a:ext uri="{FF2B5EF4-FFF2-40B4-BE49-F238E27FC236}">
                <a16:creationId xmlns:a16="http://schemas.microsoft.com/office/drawing/2014/main" id="{E0DC4D7B-5285-490B-7C7A-5C947808FC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387"/>
          <a:stretch/>
        </p:blipFill>
        <p:spPr bwMode="auto">
          <a:xfrm>
            <a:off x="7638176" y="2657564"/>
            <a:ext cx="3586551" cy="3920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216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2C0B-3D11-64D4-BA25-A78922D8B68B}"/>
              </a:ext>
            </a:extLst>
          </p:cNvPr>
          <p:cNvSpPr>
            <a:spLocks noGrp="1"/>
          </p:cNvSpPr>
          <p:nvPr>
            <p:ph type="title"/>
          </p:nvPr>
        </p:nvSpPr>
        <p:spPr/>
        <p:txBody>
          <a:bodyPr>
            <a:normAutofit/>
          </a:bodyPr>
          <a:lstStyle/>
          <a:p>
            <a:pPr algn="ctr"/>
            <a:r>
              <a:rPr lang="en-IN" sz="48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C7A18C18-E5E1-E26C-07EE-A84DB3C8E184}"/>
              </a:ext>
            </a:extLst>
          </p:cNvPr>
          <p:cNvSpPr>
            <a:spLocks noGrp="1"/>
          </p:cNvSpPr>
          <p:nvPr>
            <p:ph idx="1"/>
          </p:nvPr>
        </p:nvSpPr>
        <p:spPr/>
        <p:txBody>
          <a:bodyPr>
            <a:normAutofit/>
          </a:bodyPr>
          <a:lstStyle/>
          <a:p>
            <a:r>
              <a:rPr lang="en-GB" sz="2800" b="1" dirty="0">
                <a:solidFill>
                  <a:srgbClr val="002060"/>
                </a:solidFill>
                <a:latin typeface="+mj-lt"/>
                <a:ea typeface="Calibri" panose="020F0502020204030204" pitchFamily="34" charset="0"/>
                <a:cs typeface="Calibri" panose="020F0502020204030204" pitchFamily="34" charset="0"/>
              </a:rPr>
              <a:t>Abstract</a:t>
            </a:r>
          </a:p>
          <a:p>
            <a:r>
              <a:rPr lang="en-GB" sz="2800" b="1" dirty="0">
                <a:solidFill>
                  <a:srgbClr val="002060"/>
                </a:solidFill>
                <a:latin typeface="+mj-lt"/>
                <a:ea typeface="Calibri" panose="020F0502020204030204" pitchFamily="34" charset="0"/>
                <a:cs typeface="Calibri" panose="020F0502020204030204" pitchFamily="34" charset="0"/>
              </a:rPr>
              <a:t>Introduction</a:t>
            </a:r>
          </a:p>
          <a:p>
            <a:r>
              <a:rPr lang="en-GB" sz="2800" b="1" dirty="0">
                <a:solidFill>
                  <a:srgbClr val="002060"/>
                </a:solidFill>
                <a:latin typeface="+mj-lt"/>
                <a:ea typeface="Calibri" panose="020F0502020204030204" pitchFamily="34" charset="0"/>
                <a:cs typeface="Calibri" panose="020F0502020204030204" pitchFamily="34" charset="0"/>
              </a:rPr>
              <a:t>System Requirements and Specifications</a:t>
            </a:r>
          </a:p>
          <a:p>
            <a:r>
              <a:rPr lang="en-IN" sz="2800" b="1" dirty="0">
                <a:solidFill>
                  <a:srgbClr val="002060"/>
                </a:solidFill>
                <a:latin typeface="+mj-lt"/>
                <a:cs typeface="Times New Roman" panose="02020603050405020304" pitchFamily="18" charset="0"/>
              </a:rPr>
              <a:t>System Design</a:t>
            </a:r>
          </a:p>
          <a:p>
            <a:r>
              <a:rPr lang="en-IN" sz="2800" b="1" dirty="0">
                <a:solidFill>
                  <a:srgbClr val="002060"/>
                </a:solidFill>
                <a:latin typeface="+mj-lt"/>
                <a:cs typeface="Times New Roman" panose="02020603050405020304" pitchFamily="18" charset="0"/>
              </a:rPr>
              <a:t>Implementation</a:t>
            </a:r>
          </a:p>
          <a:p>
            <a:r>
              <a:rPr lang="en-IN" sz="2800" b="1" dirty="0">
                <a:solidFill>
                  <a:srgbClr val="002060"/>
                </a:solidFill>
                <a:latin typeface="+mj-lt"/>
                <a:cs typeface="Times New Roman" panose="02020603050405020304" pitchFamily="18" charset="0"/>
              </a:rPr>
              <a:t>Conclusion</a:t>
            </a:r>
          </a:p>
          <a:p>
            <a:endParaRPr lang="en-IN" dirty="0"/>
          </a:p>
          <a:p>
            <a:endParaRPr lang="en-IN" dirty="0"/>
          </a:p>
        </p:txBody>
      </p:sp>
    </p:spTree>
    <p:extLst>
      <p:ext uri="{BB962C8B-B14F-4D97-AF65-F5344CB8AC3E}">
        <p14:creationId xmlns:p14="http://schemas.microsoft.com/office/powerpoint/2010/main" val="694249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FFBB5-30C3-13B6-12F4-426BEAF88260}"/>
              </a:ext>
            </a:extLst>
          </p:cNvPr>
          <p:cNvSpPr>
            <a:spLocks noGrp="1"/>
          </p:cNvSpPr>
          <p:nvPr>
            <p:ph type="title"/>
          </p:nvPr>
        </p:nvSpPr>
        <p:spPr/>
        <p:txBody>
          <a:bodyPr/>
          <a:lstStyle/>
          <a:p>
            <a:r>
              <a:rPr lang="en-US" b="1" dirty="0"/>
              <a:t>INTODUCTION</a:t>
            </a:r>
            <a:endParaRPr lang="en-IN" b="1" dirty="0"/>
          </a:p>
        </p:txBody>
      </p:sp>
      <p:sp>
        <p:nvSpPr>
          <p:cNvPr id="3" name="Content Placeholder 2">
            <a:extLst>
              <a:ext uri="{FF2B5EF4-FFF2-40B4-BE49-F238E27FC236}">
                <a16:creationId xmlns:a16="http://schemas.microsoft.com/office/drawing/2014/main" id="{F7A9E76B-1B32-4177-1F09-B0E022A29EDF}"/>
              </a:ext>
            </a:extLst>
          </p:cNvPr>
          <p:cNvSpPr>
            <a:spLocks noGrp="1"/>
          </p:cNvSpPr>
          <p:nvPr>
            <p:ph idx="1"/>
          </p:nvPr>
        </p:nvSpPr>
        <p:spPr/>
        <p:txBody>
          <a:bodyPr>
            <a:normAutofit fontScale="92500"/>
          </a:bodyPr>
          <a:lstStyle/>
          <a:p>
            <a:pPr algn="just">
              <a:lnSpc>
                <a:spcPct val="200000"/>
              </a:lnSpc>
            </a:pPr>
            <a:r>
              <a:rPr lang="en-US" sz="2400" dirty="0">
                <a:effectLst/>
                <a:latin typeface="Times New Roman" panose="02020603050405020304" pitchFamily="18" charset="0"/>
                <a:ea typeface="Calibri" panose="020F0502020204030204" pitchFamily="34" charset="0"/>
              </a:rPr>
              <a:t>Lung cancer remains a predominant cause of cancer-related deaths, with early and accurate prediction being crucial for improving survival rates. </a:t>
            </a:r>
          </a:p>
          <a:p>
            <a:pPr algn="just">
              <a:lnSpc>
                <a:spcPct val="200000"/>
              </a:lnSpc>
            </a:pPr>
            <a:r>
              <a:rPr lang="en-US" sz="2400" dirty="0">
                <a:effectLst/>
                <a:latin typeface="Times New Roman" panose="02020603050405020304" pitchFamily="18" charset="0"/>
                <a:ea typeface="Calibri" panose="020F0502020204030204" pitchFamily="34" charset="0"/>
              </a:rPr>
              <a:t>Traditional methods of lung cancer diagnosis often involve invasive procedures or rely heavily on manual assessments, which can lead to delayed or inaccurate diagnosis.</a:t>
            </a:r>
          </a:p>
          <a:p>
            <a:pPr algn="just">
              <a:lnSpc>
                <a:spcPct val="200000"/>
              </a:lnSpc>
            </a:pPr>
            <a:r>
              <a:rPr lang="en-US" sz="2400" dirty="0">
                <a:effectLst/>
                <a:latin typeface="Times New Roman" panose="02020603050405020304" pitchFamily="18" charset="0"/>
                <a:ea typeface="Calibri" panose="020F0502020204030204" pitchFamily="34" charset="0"/>
              </a:rPr>
              <a:t> This study presents a machine learning-based approach for predicting the likelihood of lung cancer in patients using clinical and demographic data. </a:t>
            </a:r>
            <a:endParaRPr lang="en-IN" sz="3600" dirty="0"/>
          </a:p>
        </p:txBody>
      </p:sp>
    </p:spTree>
    <p:extLst>
      <p:ext uri="{BB962C8B-B14F-4D97-AF65-F5344CB8AC3E}">
        <p14:creationId xmlns:p14="http://schemas.microsoft.com/office/powerpoint/2010/main" val="96739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2D0DD-AEB1-28E1-F4DB-496E6EB9812E}"/>
              </a:ext>
            </a:extLst>
          </p:cNvPr>
          <p:cNvSpPr>
            <a:spLocks noGrp="1"/>
          </p:cNvSpPr>
          <p:nvPr>
            <p:ph type="title"/>
          </p:nvPr>
        </p:nvSpPr>
        <p:spPr>
          <a:xfrm>
            <a:off x="838200" y="365126"/>
            <a:ext cx="10515600" cy="717226"/>
          </a:xfrm>
        </p:spPr>
        <p:txBody>
          <a:bodyPr>
            <a:normAutofit fontScale="90000"/>
          </a:bodyPr>
          <a:lstStyle/>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What Is Lung Cancer?</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B9AAF50-675E-69AD-83AE-2383D9987C1C}"/>
              </a:ext>
            </a:extLst>
          </p:cNvPr>
          <p:cNvSpPr>
            <a:spLocks noGrp="1"/>
          </p:cNvSpPr>
          <p:nvPr>
            <p:ph idx="1"/>
          </p:nvPr>
        </p:nvSpPr>
        <p:spPr>
          <a:xfrm>
            <a:off x="614188" y="995200"/>
            <a:ext cx="5481812" cy="5620203"/>
          </a:xfrm>
        </p:spPr>
        <p:txBody>
          <a:bodyPr>
            <a:normAutofit fontScale="92500" lnSpcReduction="10000"/>
          </a:bodyPr>
          <a:lstStyle/>
          <a:p>
            <a:pPr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Your lungs are 2 sponge-like organs in your chest that are separated into sections called lobes. Your right lung has 3 lobes. Your left lung has 2 lobes. The left lung is smaller because the heart takes up more room on that side of the body.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When you inhale (breathe in), air enters through your mouth or nose and goes into your lungs through the trachea (windpipe). The trachea divides into tubes called bronchi, which enter the lungs and divide into smaller bronchi. These divide to form smaller branches called bronchioles. At the end of the bronchioles are tiny air sacs known as alveoli.</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3600" dirty="0"/>
          </a:p>
        </p:txBody>
      </p:sp>
      <p:pic>
        <p:nvPicPr>
          <p:cNvPr id="4" name="Picture 3" descr="illustration showing details of the lungs and surrounding areas">
            <a:extLst>
              <a:ext uri="{FF2B5EF4-FFF2-40B4-BE49-F238E27FC236}">
                <a16:creationId xmlns:a16="http://schemas.microsoft.com/office/drawing/2014/main" id="{A41979B7-E295-E4E3-CE8B-4D9BB86429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61256" y="1560402"/>
            <a:ext cx="5316556" cy="4532487"/>
          </a:xfrm>
          <a:prstGeom prst="rect">
            <a:avLst/>
          </a:prstGeom>
          <a:noFill/>
          <a:ln>
            <a:noFill/>
          </a:ln>
        </p:spPr>
      </p:pic>
    </p:spTree>
    <p:extLst>
      <p:ext uri="{BB962C8B-B14F-4D97-AF65-F5344CB8AC3E}">
        <p14:creationId xmlns:p14="http://schemas.microsoft.com/office/powerpoint/2010/main" val="636421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2C31E-74F1-1F36-E810-8B22B7C017B9}"/>
              </a:ext>
            </a:extLst>
          </p:cNvPr>
          <p:cNvSpPr>
            <a:spLocks noGrp="1"/>
          </p:cNvSpPr>
          <p:nvPr>
            <p:ph type="title"/>
          </p:nvPr>
        </p:nvSpPr>
        <p:spPr/>
        <p:txBody>
          <a:bodyPr>
            <a:normAutofit fontScale="90000"/>
          </a:bodyPr>
          <a:lstStyle/>
          <a:p>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Lung cancer staging</a:t>
            </a:r>
            <a:br>
              <a:rPr lang="en-IN" sz="32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6000" dirty="0"/>
          </a:p>
        </p:txBody>
      </p:sp>
      <p:sp>
        <p:nvSpPr>
          <p:cNvPr id="3" name="Content Placeholder 2">
            <a:extLst>
              <a:ext uri="{FF2B5EF4-FFF2-40B4-BE49-F238E27FC236}">
                <a16:creationId xmlns:a16="http://schemas.microsoft.com/office/drawing/2014/main" id="{EAE9C9D6-7E3F-BF84-A66C-4A598B79A84C}"/>
              </a:ext>
            </a:extLst>
          </p:cNvPr>
          <p:cNvSpPr>
            <a:spLocks noGrp="1"/>
          </p:cNvSpPr>
          <p:nvPr>
            <p:ph idx="1"/>
          </p:nvPr>
        </p:nvSpPr>
        <p:spPr>
          <a:xfrm>
            <a:off x="698241" y="1592360"/>
            <a:ext cx="10515600" cy="4351338"/>
          </a:xfrm>
        </p:spPr>
        <p:txBody>
          <a:bodyPr>
            <a:normAutofit fontScale="92500" lnSpcReduction="20000"/>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Stage 0 (in-situ):</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Cancer is in the top lining of the lung or bronchus. It hasn’t spread to other parts of the lung or outside of the lung.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Stage 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Cancer hasn’t spread outside the lung.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Stage II: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Cancer is larger than Stage I, has spread to lymph nodes inside the lung, or there’s more than one tumor in the same lobe of the lung.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Stage III: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Cancer is larger than Stage II, has spread to nearby lymph nodes or structures or there’s more than one tumor in a different lobe of the same lung.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Stage IV:</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Cancer has spread to the other lung, the fluid around the lung, the fluid around the heart or distant organs.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8980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0651-9EFA-8640-E39F-775701D5EAA4}"/>
              </a:ext>
            </a:extLst>
          </p:cNvPr>
          <p:cNvSpPr>
            <a:spLocks noGrp="1"/>
          </p:cNvSpPr>
          <p:nvPr>
            <p:ph type="title"/>
          </p:nvPr>
        </p:nvSpPr>
        <p:spPr/>
        <p:txBody>
          <a:bodyPr>
            <a:normAutofit/>
          </a:bodyPr>
          <a:lstStyle/>
          <a:p>
            <a:r>
              <a:rPr lang="en-IN" sz="3200" b="1" dirty="0">
                <a:effectLst/>
                <a:latin typeface="Times New Roman" panose="02020603050405020304" pitchFamily="18" charset="0"/>
                <a:ea typeface="Calibri" panose="020F0502020204030204" pitchFamily="34" charset="0"/>
              </a:rPr>
              <a:t>Symptoms and Causes</a:t>
            </a:r>
            <a:endParaRPr lang="en-IN" sz="6600" dirty="0"/>
          </a:p>
        </p:txBody>
      </p:sp>
      <p:sp>
        <p:nvSpPr>
          <p:cNvPr id="3" name="Content Placeholder 2">
            <a:extLst>
              <a:ext uri="{FF2B5EF4-FFF2-40B4-BE49-F238E27FC236}">
                <a16:creationId xmlns:a16="http://schemas.microsoft.com/office/drawing/2014/main" id="{2090F8E1-4CD0-CD69-2129-C725A1069BAC}"/>
              </a:ext>
            </a:extLst>
          </p:cNvPr>
          <p:cNvSpPr>
            <a:spLocks noGrp="1"/>
          </p:cNvSpPr>
          <p:nvPr>
            <p:ph idx="1"/>
          </p:nvPr>
        </p:nvSpPr>
        <p:spPr>
          <a:xfrm>
            <a:off x="838200" y="1324946"/>
            <a:ext cx="10515600" cy="5383763"/>
          </a:xfrm>
        </p:spPr>
        <p:txBody>
          <a:bodyPr>
            <a:normAutofit lnSpcReduction="10000"/>
          </a:bodyPr>
          <a:lstStyle/>
          <a:p>
            <a:pPr marL="342900" lvl="0" indent="-342900">
              <a:lnSpc>
                <a:spcPct val="150000"/>
              </a:lnSpc>
              <a:spcAft>
                <a:spcPts val="800"/>
              </a:spcAft>
              <a:buSzPts val="1000"/>
              <a:buFont typeface="Symbol" panose="05050102010706020507" pitchFamily="18" charset="2"/>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 </a:t>
            </a: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cough</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that doesn’t go away or gets worse over time.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Trouble breathing or </a:t>
            </a: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shortness of breath</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dyspnea</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Chest pain or discomfort.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Wheezing.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Coughing up blood (</a:t>
            </a:r>
            <a:r>
              <a:rPr lang="en-IN" sz="2000" strike="noStrike" kern="100" dirty="0" err="1">
                <a:effectLst/>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hemoptysis</a:t>
            </a: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Hoarseness.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Loss of appetite.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000"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Unexplained weight loss</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311044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B79C0-64D2-1FA8-A312-559A57297475}"/>
              </a:ext>
            </a:extLst>
          </p:cNvPr>
          <p:cNvSpPr>
            <a:spLocks noGrp="1"/>
          </p:cNvSpPr>
          <p:nvPr>
            <p:ph type="title"/>
          </p:nvPr>
        </p:nvSpPr>
        <p:spPr/>
        <p:txBody>
          <a:bodyPr/>
          <a:lstStyle/>
          <a:p>
            <a:r>
              <a:rPr lang="en-GB" sz="4400" b="1" dirty="0">
                <a:solidFill>
                  <a:srgbClr val="002060"/>
                </a:solidFill>
                <a:latin typeface="+mj-lt"/>
                <a:ea typeface="Calibri" panose="020F0502020204030204" pitchFamily="34" charset="0"/>
                <a:cs typeface="Calibri" panose="020F0502020204030204" pitchFamily="34" charset="0"/>
              </a:rPr>
              <a:t>System Requirements and Specifications</a:t>
            </a:r>
            <a:br>
              <a:rPr lang="en-GB" sz="4800" b="1" dirty="0">
                <a:solidFill>
                  <a:srgbClr val="002060"/>
                </a:solidFill>
                <a:latin typeface="+mj-lt"/>
                <a:ea typeface="Calibri" panose="020F0502020204030204" pitchFamily="34" charset="0"/>
                <a:cs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9A3F4465-749C-6A6E-AD99-B6604FADCD50}"/>
              </a:ext>
            </a:extLst>
          </p:cNvPr>
          <p:cNvSpPr>
            <a:spLocks noGrp="1"/>
          </p:cNvSpPr>
          <p:nvPr>
            <p:ph idx="1"/>
          </p:nvPr>
        </p:nvSpPr>
        <p:spPr/>
        <p:txBody>
          <a:bodyPr/>
          <a:lstStyle/>
          <a:p>
            <a:pPr algn="just">
              <a:lnSpc>
                <a:spcPct val="150000"/>
              </a:lnSpc>
              <a:spcAft>
                <a:spcPts val="800"/>
              </a:spcAft>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Software Requirements</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Scripting language		:  Python Programming</a:t>
            </a:r>
            <a:endParaRPr lang="en-IN" sz="1800" kern="100" dirty="0">
              <a:latin typeface="Calibri" panose="020F0502020204030204" pitchFamily="34" charset="0"/>
              <a:ea typeface="Calibri" panose="020F0502020204030204" pitchFamily="34" charset="0"/>
              <a:cs typeface="Arial" panose="020B0604020202020204" pitchFamily="34" charset="0"/>
            </a:endParaRPr>
          </a:p>
          <a:p>
            <a:pPr marR="228600">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Scripting Tool	:  Anaconda Navigator (Jupiter Notebook) &amp; Google Collab</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Operating System		:  Microsoft Windows 11</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Dataset			            :  Lung Cancer dataset</a:t>
            </a:r>
          </a:p>
          <a:p>
            <a:pPr>
              <a:lnSpc>
                <a:spcPct val="107000"/>
              </a:lnSpc>
              <a:spcAft>
                <a:spcPts val="800"/>
              </a:spcAft>
            </a:pPr>
            <a:r>
              <a:rPr lang="en-IN" sz="1800" dirty="0">
                <a:effectLst/>
                <a:latin typeface="Times New Roman" panose="02020603050405020304" pitchFamily="18" charset="0"/>
                <a:ea typeface="Calibri" panose="020F0502020204030204" pitchFamily="34" charset="0"/>
              </a:rPr>
              <a:t>Packages		            :  NumPy, Pandas, Matplotlib, Seaborn , Sklearn etc. </a:t>
            </a:r>
            <a:endParaRPr lang="en-IN" dirty="0"/>
          </a:p>
        </p:txBody>
      </p:sp>
    </p:spTree>
    <p:extLst>
      <p:ext uri="{BB962C8B-B14F-4D97-AF65-F5344CB8AC3E}">
        <p14:creationId xmlns:p14="http://schemas.microsoft.com/office/powerpoint/2010/main" val="139358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1EC30-C477-98CB-306E-294D3A2D2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0FE7A-7BB0-4BA4-776D-E1581F228FAA}"/>
              </a:ext>
            </a:extLst>
          </p:cNvPr>
          <p:cNvSpPr>
            <a:spLocks noGrp="1"/>
          </p:cNvSpPr>
          <p:nvPr>
            <p:ph type="title"/>
          </p:nvPr>
        </p:nvSpPr>
        <p:spPr/>
        <p:txBody>
          <a:bodyPr/>
          <a:lstStyle/>
          <a:p>
            <a:r>
              <a:rPr lang="en-GB" sz="4400" b="1" dirty="0">
                <a:solidFill>
                  <a:srgbClr val="002060"/>
                </a:solidFill>
                <a:latin typeface="+mj-lt"/>
                <a:ea typeface="Calibri" panose="020F0502020204030204" pitchFamily="34" charset="0"/>
                <a:cs typeface="Calibri" panose="020F0502020204030204" pitchFamily="34" charset="0"/>
              </a:rPr>
              <a:t>System Requirements and Specifications</a:t>
            </a:r>
            <a:br>
              <a:rPr lang="en-GB" sz="4800" b="1" dirty="0">
                <a:solidFill>
                  <a:srgbClr val="002060"/>
                </a:solidFill>
                <a:latin typeface="+mj-lt"/>
                <a:ea typeface="Calibri" panose="020F0502020204030204" pitchFamily="34" charset="0"/>
                <a:cs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EB7AEA41-95D4-0147-897E-F1A073B53FB1}"/>
              </a:ext>
            </a:extLst>
          </p:cNvPr>
          <p:cNvSpPr>
            <a:spLocks noGrp="1"/>
          </p:cNvSpPr>
          <p:nvPr>
            <p:ph idx="1"/>
          </p:nvPr>
        </p:nvSpPr>
        <p:spPr/>
        <p:txBody>
          <a:bodyPr/>
          <a:lstStyle/>
          <a:p>
            <a:pPr algn="just">
              <a:lnSpc>
                <a:spcPct val="150000"/>
              </a:lnSpc>
              <a:spcAft>
                <a:spcPts val="800"/>
              </a:spcAft>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Hardware Requirements     </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Processor 			:          3.20 GHz</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Output Devices	          	                :          Monitor (LCD)</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Input Devices			:          Keyboard</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Hard Disk			:          512 GB SSD</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R="228600" algn="just">
              <a:lnSpc>
                <a:spcPct val="107000"/>
              </a:lnSpc>
              <a:spcAft>
                <a:spcPts val="800"/>
              </a:spcAft>
            </a:pPr>
            <a:r>
              <a:rPr lang="en-IN" sz="1800" kern="100" dirty="0">
                <a:effectLst/>
                <a:latin typeface="Times New Roman" panose="02020603050405020304" pitchFamily="18" charset="0"/>
                <a:ea typeface="Calibri" panose="020F0502020204030204" pitchFamily="34" charset="0"/>
                <a:cs typeface="Arial" panose="020B0604020202020204" pitchFamily="34" charset="0"/>
              </a:rPr>
              <a:t>RAM                                                 :          16 GB </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036137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lowchart: Magnetic Disk 33"/>
          <p:cNvSpPr/>
          <p:nvPr/>
        </p:nvSpPr>
        <p:spPr>
          <a:xfrm>
            <a:off x="2153040" y="827929"/>
            <a:ext cx="1520780" cy="980528"/>
          </a:xfrm>
          <a:prstGeom prst="flowChartMagneticDisk">
            <a:avLst/>
          </a:prstGeom>
          <a:solidFill>
            <a:srgbClr val="002060"/>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Lung Cancer Dataset </a:t>
            </a:r>
            <a:endParaRPr lang="en-US" sz="11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r>
              <a:rPr lang="en-IN" sz="1100" dirty="0">
                <a:solidFill>
                  <a:schemeClr val="bg1"/>
                </a:solidFill>
              </a:rPr>
              <a:t>                           </a:t>
            </a:r>
            <a:endParaRPr lang="en-IN" sz="11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35" name="Rounded Rectangle 34"/>
          <p:cNvSpPr/>
          <p:nvPr/>
        </p:nvSpPr>
        <p:spPr>
          <a:xfrm>
            <a:off x="1741304" y="1966057"/>
            <a:ext cx="2307973" cy="3703244"/>
          </a:xfrm>
          <a:prstGeom prst="roundRect">
            <a:avLst/>
          </a:prstGeom>
          <a:solidFill>
            <a:srgbClr val="002060"/>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400" dirty="0">
              <a:latin typeface="Cambria" panose="02040503050406030204" pitchFamily="18" charset="0"/>
              <a:ea typeface="Cambria" panose="02040503050406030204" pitchFamily="18" charset="0"/>
            </a:endParaRPr>
          </a:p>
          <a:p>
            <a:pPr algn="ctr"/>
            <a:endParaRPr lang="en-US" sz="1400" dirty="0">
              <a:latin typeface="Cambria" panose="02040503050406030204" pitchFamily="18" charset="0"/>
              <a:ea typeface="Cambria" panose="02040503050406030204" pitchFamily="18" charset="0"/>
            </a:endParaRPr>
          </a:p>
          <a:p>
            <a:pPr algn="ctr"/>
            <a:endParaRPr lang="en-US" sz="1400" dirty="0">
              <a:latin typeface="Cambria" panose="02040503050406030204" pitchFamily="18" charset="0"/>
              <a:ea typeface="Cambria" panose="02040503050406030204" pitchFamily="18" charset="0"/>
            </a:endParaRPr>
          </a:p>
          <a:p>
            <a:pPr algn="ctr"/>
            <a:endParaRPr lang="en-US" sz="1400" dirty="0">
              <a:latin typeface="Cambria" panose="02040503050406030204" pitchFamily="18" charset="0"/>
              <a:ea typeface="Cambria" panose="02040503050406030204" pitchFamily="18" charset="0"/>
            </a:endParaRPr>
          </a:p>
          <a:p>
            <a:pPr algn="ctr"/>
            <a:r>
              <a:rPr lang="en-US" sz="1400" dirty="0">
                <a:latin typeface="Cambria" panose="02040503050406030204" pitchFamily="18" charset="0"/>
                <a:ea typeface="Cambria" panose="02040503050406030204" pitchFamily="18" charset="0"/>
              </a:rPr>
              <a:t> </a:t>
            </a:r>
            <a:endParaRPr lang="en-IN" sz="1400" dirty="0">
              <a:latin typeface="Cambria" panose="02040503050406030204" pitchFamily="18" charset="0"/>
              <a:ea typeface="Cambria" panose="02040503050406030204" pitchFamily="18" charset="0"/>
            </a:endParaRPr>
          </a:p>
        </p:txBody>
      </p:sp>
      <p:sp>
        <p:nvSpPr>
          <p:cNvPr id="36" name="Rounded Rectangle 35"/>
          <p:cNvSpPr/>
          <p:nvPr/>
        </p:nvSpPr>
        <p:spPr>
          <a:xfrm>
            <a:off x="1965275" y="2294008"/>
            <a:ext cx="1960073" cy="461535"/>
          </a:xfrm>
          <a:prstGeom prst="round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latin typeface="Cambria" panose="02040503050406030204" pitchFamily="18" charset="0"/>
                <a:ea typeface="Cambria" panose="02040503050406030204" pitchFamily="18" charset="0"/>
                <a:cs typeface="Times New Roman" panose="02020603050405020304" pitchFamily="18" charset="0"/>
              </a:rPr>
              <a:t>Data Preprocessing</a:t>
            </a:r>
          </a:p>
        </p:txBody>
      </p:sp>
      <p:sp>
        <p:nvSpPr>
          <p:cNvPr id="38" name="Rounded Rectangle 37"/>
          <p:cNvSpPr/>
          <p:nvPr/>
        </p:nvSpPr>
        <p:spPr>
          <a:xfrm>
            <a:off x="1933393" y="3252943"/>
            <a:ext cx="1960074" cy="723880"/>
          </a:xfrm>
          <a:prstGeom prst="round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b="1" dirty="0">
                <a:latin typeface="Cambria" panose="02040503050406030204" pitchFamily="18" charset="0"/>
                <a:ea typeface="Cambria" panose="02040503050406030204" pitchFamily="18" charset="0"/>
              </a:rPr>
              <a:t>Missing Data Handling</a:t>
            </a:r>
            <a:endParaRPr lang="en-IN" sz="1400"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39" name="Rounded Rectangle 38"/>
          <p:cNvSpPr/>
          <p:nvPr/>
        </p:nvSpPr>
        <p:spPr>
          <a:xfrm>
            <a:off x="6436235" y="489680"/>
            <a:ext cx="3822372" cy="3927876"/>
          </a:xfrm>
          <a:prstGeom prst="roundRect">
            <a:avLst/>
          </a:prstGeom>
          <a:solidFill>
            <a:srgbClr val="002060"/>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b="1"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b="1"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b="1" dirty="0">
              <a:latin typeface="Cambria" panose="02040503050406030204" pitchFamily="18" charset="0"/>
              <a:ea typeface="Cambria" panose="02040503050406030204" pitchFamily="18" charset="0"/>
              <a:cs typeface="Times New Roman" panose="02020603050405020304" pitchFamily="18" charset="0"/>
            </a:endParaRPr>
          </a:p>
          <a:p>
            <a:pPr algn="ctr"/>
            <a:r>
              <a:rPr lang="en-US" b="1" dirty="0">
                <a:latin typeface="Cambria" panose="02040503050406030204" pitchFamily="18" charset="0"/>
                <a:ea typeface="Cambria" panose="02040503050406030204" pitchFamily="18" charset="0"/>
                <a:cs typeface="Times New Roman" panose="02020603050405020304" pitchFamily="18" charset="0"/>
              </a:rPr>
              <a:t> </a:t>
            </a:r>
            <a:endParaRPr lang="en-IN"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40" name="Flowchart: Magnetic Disk 39"/>
          <p:cNvSpPr/>
          <p:nvPr/>
        </p:nvSpPr>
        <p:spPr>
          <a:xfrm>
            <a:off x="8099094" y="873357"/>
            <a:ext cx="792088" cy="486054"/>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latin typeface="Cambria" panose="02040503050406030204" pitchFamily="18" charset="0"/>
                <a:ea typeface="Cambria" panose="02040503050406030204" pitchFamily="18" charset="0"/>
                <a:cs typeface="Times New Roman" panose="02020603050405020304" pitchFamily="18" charset="0"/>
              </a:rPr>
              <a:t>Data</a:t>
            </a:r>
            <a:endParaRPr lang="en-IN" sz="1600"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41" name="Rounded Rectangle 40"/>
          <p:cNvSpPr/>
          <p:nvPr/>
        </p:nvSpPr>
        <p:spPr>
          <a:xfrm>
            <a:off x="7162990" y="1461922"/>
            <a:ext cx="936104" cy="37804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a:latin typeface="Cambria" panose="02040503050406030204" pitchFamily="18" charset="0"/>
                <a:ea typeface="Cambria" panose="02040503050406030204" pitchFamily="18" charset="0"/>
                <a:cs typeface="Times New Roman" panose="02020603050405020304" pitchFamily="18" charset="0"/>
              </a:rPr>
              <a:t>Train</a:t>
            </a:r>
            <a:endParaRPr lang="en-IN" sz="1600"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42" name="Rounded Rectangle 41"/>
          <p:cNvSpPr/>
          <p:nvPr/>
        </p:nvSpPr>
        <p:spPr>
          <a:xfrm>
            <a:off x="8759792" y="1461922"/>
            <a:ext cx="936104" cy="37804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b="1" dirty="0">
                <a:latin typeface="Cambria" panose="02040503050406030204" pitchFamily="18" charset="0"/>
                <a:ea typeface="Cambria" panose="02040503050406030204" pitchFamily="18" charset="0"/>
                <a:cs typeface="Times New Roman" panose="02020603050405020304" pitchFamily="18" charset="0"/>
              </a:rPr>
              <a:t>Test</a:t>
            </a:r>
            <a:endParaRPr lang="en-IN" sz="1600"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43" name="Rounded Rectangle 42"/>
          <p:cNvSpPr/>
          <p:nvPr/>
        </p:nvSpPr>
        <p:spPr>
          <a:xfrm>
            <a:off x="6599862" y="2278508"/>
            <a:ext cx="3192685" cy="7010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latin typeface="Cambria" panose="02040503050406030204" pitchFamily="18" charset="0"/>
                <a:ea typeface="Cambria" panose="02040503050406030204" pitchFamily="18" charset="0"/>
                <a:cs typeface="Times New Roman" panose="02020603050405020304" pitchFamily="18" charset="0"/>
              </a:rPr>
              <a:t>Model Deployment</a:t>
            </a:r>
          </a:p>
          <a:p>
            <a:pPr algn="ctr"/>
            <a:r>
              <a:rPr lang="en-IN" sz="1200" b="1" dirty="0">
                <a:solidFill>
                  <a:srgbClr val="C00000"/>
                </a:solidFill>
                <a:latin typeface="Cambria" panose="02040503050406030204" pitchFamily="18" charset="0"/>
                <a:ea typeface="Cambria" panose="02040503050406030204" pitchFamily="18" charset="0"/>
              </a:rPr>
              <a:t>Random Forest, SVM , SVM, Decision Tree and LR</a:t>
            </a:r>
            <a:endParaRPr lang="en-US" sz="1200" b="1" dirty="0">
              <a:solidFill>
                <a:srgbClr val="C0000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4" name="Rounded Rectangle 43"/>
          <p:cNvSpPr/>
          <p:nvPr/>
        </p:nvSpPr>
        <p:spPr>
          <a:xfrm>
            <a:off x="6599861" y="3271124"/>
            <a:ext cx="2040559" cy="5465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latin typeface="Cambria" panose="02040503050406030204" pitchFamily="18" charset="0"/>
                <a:ea typeface="Cambria" panose="02040503050406030204" pitchFamily="18" charset="0"/>
                <a:cs typeface="Times New Roman" panose="02020603050405020304" pitchFamily="18" charset="0"/>
              </a:rPr>
              <a:t>Model Evaluation</a:t>
            </a:r>
          </a:p>
        </p:txBody>
      </p:sp>
      <p:cxnSp>
        <p:nvCxnSpPr>
          <p:cNvPr id="45" name="Elbow Connector 44"/>
          <p:cNvCxnSpPr>
            <a:stCxn id="40" idx="2"/>
            <a:endCxn id="41" idx="0"/>
          </p:cNvCxnSpPr>
          <p:nvPr/>
        </p:nvCxnSpPr>
        <p:spPr>
          <a:xfrm rot="10800000" flipV="1">
            <a:off x="7631042" y="1116384"/>
            <a:ext cx="468052" cy="345539"/>
          </a:xfrm>
          <a:prstGeom prst="bentConnector2">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6" name="Elbow Connector 45"/>
          <p:cNvCxnSpPr>
            <a:cxnSpLocks/>
          </p:cNvCxnSpPr>
          <p:nvPr/>
        </p:nvCxnSpPr>
        <p:spPr>
          <a:xfrm rot="16200000" flipH="1">
            <a:off x="8934439" y="1073128"/>
            <a:ext cx="345539" cy="432048"/>
          </a:xfrm>
          <a:prstGeom prst="bentConnector3">
            <a:avLst>
              <a:gd name="adj1" fmla="val 1982"/>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7" name="Straight Arrow Connector 46"/>
          <p:cNvCxnSpPr>
            <a:stCxn id="41" idx="2"/>
          </p:cNvCxnSpPr>
          <p:nvPr/>
        </p:nvCxnSpPr>
        <p:spPr>
          <a:xfrm>
            <a:off x="7631042" y="1839965"/>
            <a:ext cx="0" cy="43854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8" name="Straight Arrow Connector 47"/>
          <p:cNvCxnSpPr>
            <a:cxnSpLocks/>
          </p:cNvCxnSpPr>
          <p:nvPr/>
        </p:nvCxnSpPr>
        <p:spPr>
          <a:xfrm flipH="1">
            <a:off x="7631042" y="2919930"/>
            <a:ext cx="10902" cy="43854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49" name="Elbow Connector 48"/>
          <p:cNvCxnSpPr>
            <a:stCxn id="42" idx="3"/>
            <a:endCxn id="44" idx="3"/>
          </p:cNvCxnSpPr>
          <p:nvPr/>
        </p:nvCxnSpPr>
        <p:spPr>
          <a:xfrm flipH="1">
            <a:off x="8640418" y="1650943"/>
            <a:ext cx="1055478" cy="1893458"/>
          </a:xfrm>
          <a:prstGeom prst="bentConnector3">
            <a:avLst>
              <a:gd name="adj1" fmla="val -21658"/>
            </a:avLst>
          </a:prstGeom>
          <a:ln>
            <a:tailEnd type="arrow"/>
          </a:ln>
        </p:spPr>
        <p:style>
          <a:lnRef idx="3">
            <a:schemeClr val="accent1"/>
          </a:lnRef>
          <a:fillRef idx="0">
            <a:schemeClr val="accent1"/>
          </a:fillRef>
          <a:effectRef idx="2">
            <a:schemeClr val="accent1"/>
          </a:effectRef>
          <a:fontRef idx="minor">
            <a:schemeClr val="tx1"/>
          </a:fontRef>
        </p:style>
      </p:cxnSp>
      <p:cxnSp>
        <p:nvCxnSpPr>
          <p:cNvPr id="50" name="Straight Arrow Connector 49"/>
          <p:cNvCxnSpPr>
            <a:cxnSpLocks/>
          </p:cNvCxnSpPr>
          <p:nvPr/>
        </p:nvCxnSpPr>
        <p:spPr>
          <a:xfrm flipH="1">
            <a:off x="8640420" y="4257947"/>
            <a:ext cx="1" cy="356509"/>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51" name="Rounded Rectangle 50"/>
          <p:cNvSpPr/>
          <p:nvPr/>
        </p:nvSpPr>
        <p:spPr>
          <a:xfrm>
            <a:off x="6743108" y="4577164"/>
            <a:ext cx="3444030" cy="757462"/>
          </a:xfrm>
          <a:prstGeom prst="roundRect">
            <a:avLst/>
          </a:prstGeom>
          <a:solidFill>
            <a:srgbClr val="00206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Prediction of Lung Cancer</a:t>
            </a:r>
          </a:p>
        </p:txBody>
      </p:sp>
      <p:sp>
        <p:nvSpPr>
          <p:cNvPr id="52" name="Down Arrow 51"/>
          <p:cNvSpPr/>
          <p:nvPr/>
        </p:nvSpPr>
        <p:spPr>
          <a:xfrm>
            <a:off x="2866454" y="1732302"/>
            <a:ext cx="220899" cy="6953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Cambria" panose="02040503050406030204" pitchFamily="18" charset="0"/>
              <a:ea typeface="Cambria" panose="02040503050406030204" pitchFamily="18" charset="0"/>
            </a:endParaRPr>
          </a:p>
        </p:txBody>
      </p:sp>
      <p:sp>
        <p:nvSpPr>
          <p:cNvPr id="53" name="TextBox 52"/>
          <p:cNvSpPr txBox="1"/>
          <p:nvPr/>
        </p:nvSpPr>
        <p:spPr>
          <a:xfrm>
            <a:off x="7026576" y="483959"/>
            <a:ext cx="2669320" cy="307777"/>
          </a:xfrm>
          <a:prstGeom prst="rect">
            <a:avLst/>
          </a:prstGeom>
          <a:noFill/>
        </p:spPr>
        <p:txBody>
          <a:bodyPr wrap="square" rtlCol="0">
            <a:spAutoFit/>
          </a:bodyPr>
          <a:lstStyle/>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Machine Learning Algorithms </a:t>
            </a:r>
          </a:p>
        </p:txBody>
      </p:sp>
      <p:sp>
        <p:nvSpPr>
          <p:cNvPr id="54" name="Rounded Rectangle 53"/>
          <p:cNvSpPr/>
          <p:nvPr/>
        </p:nvSpPr>
        <p:spPr>
          <a:xfrm>
            <a:off x="4319939" y="2652328"/>
            <a:ext cx="1892433" cy="1605619"/>
          </a:xfrm>
          <a:prstGeom prst="roundRect">
            <a:avLst/>
          </a:prstGeom>
          <a:solidFill>
            <a:srgbClr val="002060"/>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Feature</a:t>
            </a:r>
          </a:p>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 Extraction</a:t>
            </a:r>
          </a:p>
        </p:txBody>
      </p:sp>
      <p:sp>
        <p:nvSpPr>
          <p:cNvPr id="55" name="Right Arrow 54"/>
          <p:cNvSpPr/>
          <p:nvPr/>
        </p:nvSpPr>
        <p:spPr>
          <a:xfrm>
            <a:off x="3813035" y="3455137"/>
            <a:ext cx="572346" cy="219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Cambria" panose="02040503050406030204" pitchFamily="18" charset="0"/>
              <a:ea typeface="Cambria" panose="02040503050406030204" pitchFamily="18" charset="0"/>
            </a:endParaRPr>
          </a:p>
        </p:txBody>
      </p:sp>
      <p:sp>
        <p:nvSpPr>
          <p:cNvPr id="56" name="Right Arrow 55"/>
          <p:cNvSpPr/>
          <p:nvPr/>
        </p:nvSpPr>
        <p:spPr>
          <a:xfrm>
            <a:off x="5904115" y="3375701"/>
            <a:ext cx="519251" cy="2817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Cambria" panose="02040503050406030204" pitchFamily="18" charset="0"/>
              <a:ea typeface="Cambria" panose="02040503050406030204" pitchFamily="18" charset="0"/>
            </a:endParaRPr>
          </a:p>
        </p:txBody>
      </p:sp>
      <p:sp>
        <p:nvSpPr>
          <p:cNvPr id="60" name="Down Arrow 59"/>
          <p:cNvSpPr/>
          <p:nvPr/>
        </p:nvSpPr>
        <p:spPr>
          <a:xfrm>
            <a:off x="2834383" y="2781992"/>
            <a:ext cx="285042" cy="461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Cambria" panose="02040503050406030204" pitchFamily="18" charset="0"/>
              <a:ea typeface="Cambria" panose="02040503050406030204" pitchFamily="18" charset="0"/>
            </a:endParaRPr>
          </a:p>
        </p:txBody>
      </p:sp>
      <p:sp>
        <p:nvSpPr>
          <p:cNvPr id="2" name="Rounded Rectangle 50">
            <a:extLst>
              <a:ext uri="{FF2B5EF4-FFF2-40B4-BE49-F238E27FC236}">
                <a16:creationId xmlns:a16="http://schemas.microsoft.com/office/drawing/2014/main" id="{2065AA7F-0244-E580-FF08-1481F6140822}"/>
              </a:ext>
            </a:extLst>
          </p:cNvPr>
          <p:cNvSpPr/>
          <p:nvPr/>
        </p:nvSpPr>
        <p:spPr>
          <a:xfrm>
            <a:off x="6743108" y="5737881"/>
            <a:ext cx="1645112" cy="757462"/>
          </a:xfrm>
          <a:prstGeom prst="roundRect">
            <a:avLst/>
          </a:prstGeom>
          <a:solidFill>
            <a:srgbClr val="00206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Yes</a:t>
            </a:r>
          </a:p>
        </p:txBody>
      </p:sp>
      <p:sp>
        <p:nvSpPr>
          <p:cNvPr id="3" name="Rounded Rectangle 50">
            <a:extLst>
              <a:ext uri="{FF2B5EF4-FFF2-40B4-BE49-F238E27FC236}">
                <a16:creationId xmlns:a16="http://schemas.microsoft.com/office/drawing/2014/main" id="{521C8082-15B9-1238-761A-DA8E12FE2D33}"/>
              </a:ext>
            </a:extLst>
          </p:cNvPr>
          <p:cNvSpPr/>
          <p:nvPr/>
        </p:nvSpPr>
        <p:spPr>
          <a:xfrm>
            <a:off x="8640418" y="5727993"/>
            <a:ext cx="1645112" cy="757462"/>
          </a:xfrm>
          <a:prstGeom prst="roundRect">
            <a:avLst/>
          </a:prstGeom>
          <a:solidFill>
            <a:srgbClr val="00206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dirty="0">
                <a:solidFill>
                  <a:schemeClr val="bg1"/>
                </a:solidFill>
                <a:latin typeface="Cambria" panose="02040503050406030204" pitchFamily="18" charset="0"/>
                <a:ea typeface="Cambria" panose="02040503050406030204" pitchFamily="18" charset="0"/>
                <a:cs typeface="Times New Roman" panose="02020603050405020304" pitchFamily="18" charset="0"/>
              </a:rPr>
              <a:t>NO</a:t>
            </a:r>
          </a:p>
        </p:txBody>
      </p:sp>
      <p:cxnSp>
        <p:nvCxnSpPr>
          <p:cNvPr id="4" name="Straight Arrow Connector 3">
            <a:extLst>
              <a:ext uri="{FF2B5EF4-FFF2-40B4-BE49-F238E27FC236}">
                <a16:creationId xmlns:a16="http://schemas.microsoft.com/office/drawing/2014/main" id="{E538F46D-AA8D-DC3E-80BD-3BCA658183FF}"/>
              </a:ext>
            </a:extLst>
          </p:cNvPr>
          <p:cNvCxnSpPr>
            <a:cxnSpLocks/>
          </p:cNvCxnSpPr>
          <p:nvPr/>
        </p:nvCxnSpPr>
        <p:spPr>
          <a:xfrm>
            <a:off x="7641944" y="5334626"/>
            <a:ext cx="0" cy="43854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5" name="Straight Arrow Connector 4">
            <a:extLst>
              <a:ext uri="{FF2B5EF4-FFF2-40B4-BE49-F238E27FC236}">
                <a16:creationId xmlns:a16="http://schemas.microsoft.com/office/drawing/2014/main" id="{59344402-F6D3-9612-8176-BF5E225CC3E7}"/>
              </a:ext>
            </a:extLst>
          </p:cNvPr>
          <p:cNvCxnSpPr>
            <a:cxnSpLocks/>
          </p:cNvCxnSpPr>
          <p:nvPr/>
        </p:nvCxnSpPr>
        <p:spPr>
          <a:xfrm>
            <a:off x="9464685" y="5299338"/>
            <a:ext cx="0" cy="438543"/>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1" name="Title 1">
            <a:extLst>
              <a:ext uri="{FF2B5EF4-FFF2-40B4-BE49-F238E27FC236}">
                <a16:creationId xmlns:a16="http://schemas.microsoft.com/office/drawing/2014/main" id="{C07B75B7-35C4-3779-8810-DB9F065F008B}"/>
              </a:ext>
            </a:extLst>
          </p:cNvPr>
          <p:cNvSpPr txBox="1">
            <a:spLocks/>
          </p:cNvSpPr>
          <p:nvPr/>
        </p:nvSpPr>
        <p:spPr>
          <a:xfrm>
            <a:off x="3237338" y="-1801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rgbClr val="002060"/>
                </a:solidFill>
                <a:ea typeface="Calibri" panose="020F0502020204030204" pitchFamily="34" charset="0"/>
                <a:cs typeface="Calibri" panose="020F0502020204030204" pitchFamily="34" charset="0"/>
              </a:rPr>
              <a:t>System Design</a:t>
            </a:r>
            <a:br>
              <a:rPr lang="en-GB" sz="4800" b="1" dirty="0">
                <a:solidFill>
                  <a:srgbClr val="002060"/>
                </a:solidFill>
                <a:ea typeface="Calibri" panose="020F0502020204030204" pitchFamily="34" charset="0"/>
                <a:cs typeface="Calibri" panose="020F0502020204030204" pitchFamily="34" charset="0"/>
              </a:rPr>
            </a:br>
            <a:endParaRPr lang="en-IN" dirty="0"/>
          </a:p>
        </p:txBody>
      </p:sp>
    </p:spTree>
    <p:extLst>
      <p:ext uri="{BB962C8B-B14F-4D97-AF65-F5344CB8AC3E}">
        <p14:creationId xmlns:p14="http://schemas.microsoft.com/office/powerpoint/2010/main" val="169493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79E5B78A-F570-9692-C3AA-8E9773EC2239}"/>
              </a:ext>
            </a:extLst>
          </p:cNvPr>
          <p:cNvSpPr>
            <a:spLocks noGrp="1"/>
          </p:cNvSpPr>
          <p:nvPr>
            <p:ph type="title"/>
          </p:nvPr>
        </p:nvSpPr>
        <p:spPr/>
        <p:txBody>
          <a:bodyPr/>
          <a:lstStyle/>
          <a:p>
            <a:r>
              <a:rPr lang="en-US" b="1" dirty="0"/>
              <a:t>SYSTEM IMPLEMENTATION</a:t>
            </a:r>
            <a:endParaRPr lang="en-IN" b="1" dirty="0"/>
          </a:p>
        </p:txBody>
      </p:sp>
      <p:sp>
        <p:nvSpPr>
          <p:cNvPr id="30" name="Content Placeholder 29">
            <a:extLst>
              <a:ext uri="{FF2B5EF4-FFF2-40B4-BE49-F238E27FC236}">
                <a16:creationId xmlns:a16="http://schemas.microsoft.com/office/drawing/2014/main" id="{C6107F24-4C8E-963C-63C9-15C84519AC96}"/>
              </a:ext>
            </a:extLst>
          </p:cNvPr>
          <p:cNvSpPr>
            <a:spLocks noGrp="1"/>
          </p:cNvSpPr>
          <p:nvPr>
            <p:ph idx="1"/>
          </p:nvPr>
        </p:nvSpPr>
        <p:spPr>
          <a:xfrm>
            <a:off x="520959" y="1690688"/>
            <a:ext cx="10515600" cy="4351338"/>
          </a:xfrm>
        </p:spPr>
        <p:txBody>
          <a:bodyPr/>
          <a:lstStyle/>
          <a:p>
            <a:r>
              <a:rPr lang="en-IN" sz="1800" b="1" dirty="0">
                <a:effectLst/>
                <a:latin typeface="Times New Roman" panose="02020603050405020304" pitchFamily="18" charset="0"/>
                <a:ea typeface="Calibri" panose="020F0502020204030204" pitchFamily="34" charset="0"/>
              </a:rPr>
              <a:t>Importing the Libraries</a:t>
            </a:r>
            <a:endParaRPr lang="en-IN" dirty="0"/>
          </a:p>
        </p:txBody>
      </p:sp>
      <p:pic>
        <p:nvPicPr>
          <p:cNvPr id="31" name="Picture 30">
            <a:extLst>
              <a:ext uri="{FF2B5EF4-FFF2-40B4-BE49-F238E27FC236}">
                <a16:creationId xmlns:a16="http://schemas.microsoft.com/office/drawing/2014/main" id="{7201C0A3-27FF-B72E-2BA8-6152D0BA10E8}"/>
              </a:ext>
            </a:extLst>
          </p:cNvPr>
          <p:cNvPicPr>
            <a:picLocks noChangeAspect="1"/>
          </p:cNvPicPr>
          <p:nvPr/>
        </p:nvPicPr>
        <p:blipFill>
          <a:blip r:embed="rId2"/>
          <a:stretch>
            <a:fillRect/>
          </a:stretch>
        </p:blipFill>
        <p:spPr>
          <a:xfrm>
            <a:off x="1765338" y="2419985"/>
            <a:ext cx="9530593" cy="3355664"/>
          </a:xfrm>
          <a:prstGeom prst="rect">
            <a:avLst/>
          </a:prstGeom>
        </p:spPr>
      </p:pic>
    </p:spTree>
    <p:extLst>
      <p:ext uri="{BB962C8B-B14F-4D97-AF65-F5344CB8AC3E}">
        <p14:creationId xmlns:p14="http://schemas.microsoft.com/office/powerpoint/2010/main" val="418691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2819F9-EAF7-FE79-FA42-6A2AF690CC50}"/>
              </a:ext>
            </a:extLst>
          </p:cNvPr>
          <p:cNvPicPr>
            <a:picLocks noChangeAspect="1"/>
          </p:cNvPicPr>
          <p:nvPr/>
        </p:nvPicPr>
        <p:blipFill>
          <a:blip r:embed="rId2"/>
          <a:stretch>
            <a:fillRect/>
          </a:stretch>
        </p:blipFill>
        <p:spPr>
          <a:xfrm>
            <a:off x="810207" y="606568"/>
            <a:ext cx="9260415" cy="1838052"/>
          </a:xfrm>
          <a:prstGeom prst="rect">
            <a:avLst/>
          </a:prstGeom>
        </p:spPr>
      </p:pic>
      <p:pic>
        <p:nvPicPr>
          <p:cNvPr id="5" name="Picture 4">
            <a:extLst>
              <a:ext uri="{FF2B5EF4-FFF2-40B4-BE49-F238E27FC236}">
                <a16:creationId xmlns:a16="http://schemas.microsoft.com/office/drawing/2014/main" id="{19E36F2D-5F5B-F2BC-E88B-1429CCF5223A}"/>
              </a:ext>
            </a:extLst>
          </p:cNvPr>
          <p:cNvPicPr>
            <a:picLocks noChangeAspect="1"/>
          </p:cNvPicPr>
          <p:nvPr/>
        </p:nvPicPr>
        <p:blipFill>
          <a:blip r:embed="rId3"/>
          <a:stretch>
            <a:fillRect/>
          </a:stretch>
        </p:blipFill>
        <p:spPr>
          <a:xfrm>
            <a:off x="2804743" y="2444620"/>
            <a:ext cx="3783330" cy="4152900"/>
          </a:xfrm>
          <a:prstGeom prst="rect">
            <a:avLst/>
          </a:prstGeom>
        </p:spPr>
      </p:pic>
    </p:spTree>
    <p:extLst>
      <p:ext uri="{BB962C8B-B14F-4D97-AF65-F5344CB8AC3E}">
        <p14:creationId xmlns:p14="http://schemas.microsoft.com/office/powerpoint/2010/main" val="251430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01D470-FBF0-31FA-6AE4-E8DB2A8FF0A3}"/>
              </a:ext>
            </a:extLst>
          </p:cNvPr>
          <p:cNvSpPr>
            <a:spLocks noGrp="1"/>
          </p:cNvSpPr>
          <p:nvPr>
            <p:ph idx="1"/>
          </p:nvPr>
        </p:nvSpPr>
        <p:spPr>
          <a:xfrm>
            <a:off x="699329" y="426033"/>
            <a:ext cx="10515600" cy="4351338"/>
          </a:xfrm>
        </p:spPr>
        <p:txBody>
          <a:bodyPr/>
          <a:lstStyle/>
          <a:p>
            <a:r>
              <a:rPr lang="en-US" dirty="0"/>
              <a:t>DATA ANALYSIS</a:t>
            </a:r>
            <a:endParaRPr lang="en-IN" dirty="0"/>
          </a:p>
        </p:txBody>
      </p:sp>
      <p:pic>
        <p:nvPicPr>
          <p:cNvPr id="4" name="Picture 3">
            <a:extLst>
              <a:ext uri="{FF2B5EF4-FFF2-40B4-BE49-F238E27FC236}">
                <a16:creationId xmlns:a16="http://schemas.microsoft.com/office/drawing/2014/main" id="{B80E6911-E052-56FA-3D61-DCBCA4A210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9391" y="1679601"/>
            <a:ext cx="5159568" cy="4175099"/>
          </a:xfrm>
          <a:prstGeom prst="rect">
            <a:avLst/>
          </a:prstGeom>
          <a:noFill/>
          <a:ln>
            <a:noFill/>
          </a:ln>
        </p:spPr>
      </p:pic>
      <p:pic>
        <p:nvPicPr>
          <p:cNvPr id="5" name="Picture 4">
            <a:extLst>
              <a:ext uri="{FF2B5EF4-FFF2-40B4-BE49-F238E27FC236}">
                <a16:creationId xmlns:a16="http://schemas.microsoft.com/office/drawing/2014/main" id="{F323A789-39C9-2FA6-3D81-4FF5E0AB45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57129" y="1825625"/>
            <a:ext cx="5745480" cy="4344670"/>
          </a:xfrm>
          <a:prstGeom prst="rect">
            <a:avLst/>
          </a:prstGeom>
          <a:noFill/>
          <a:ln>
            <a:noFill/>
          </a:ln>
        </p:spPr>
      </p:pic>
    </p:spTree>
    <p:extLst>
      <p:ext uri="{BB962C8B-B14F-4D97-AF65-F5344CB8AC3E}">
        <p14:creationId xmlns:p14="http://schemas.microsoft.com/office/powerpoint/2010/main" val="2323766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25BBD-5554-32A2-730D-D4257772A85B}"/>
              </a:ext>
            </a:extLst>
          </p:cNvPr>
          <p:cNvSpPr>
            <a:spLocks noGrp="1"/>
          </p:cNvSpPr>
          <p:nvPr>
            <p:ph type="title"/>
          </p:nvPr>
        </p:nvSpPr>
        <p:spPr/>
        <p:txBody>
          <a:bodyPr/>
          <a:lstStyle/>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Training and splitting the data</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62A53FBF-8050-C7A1-9608-561EF5D2E881}"/>
              </a:ext>
            </a:extLst>
          </p:cNvPr>
          <p:cNvPicPr>
            <a:picLocks noChangeAspect="1"/>
          </p:cNvPicPr>
          <p:nvPr/>
        </p:nvPicPr>
        <p:blipFill>
          <a:blip r:embed="rId2"/>
          <a:stretch>
            <a:fillRect/>
          </a:stretch>
        </p:blipFill>
        <p:spPr>
          <a:xfrm>
            <a:off x="1219239" y="1318727"/>
            <a:ext cx="5909310" cy="1981200"/>
          </a:xfrm>
          <a:prstGeom prst="rect">
            <a:avLst/>
          </a:prstGeom>
        </p:spPr>
      </p:pic>
    </p:spTree>
    <p:extLst>
      <p:ext uri="{BB962C8B-B14F-4D97-AF65-F5344CB8AC3E}">
        <p14:creationId xmlns:p14="http://schemas.microsoft.com/office/powerpoint/2010/main" val="3221301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A8349-C39A-E46D-FDC0-91C7C686A36F}"/>
              </a:ext>
            </a:extLst>
          </p:cNvPr>
          <p:cNvSpPr>
            <a:spLocks noGrp="1"/>
          </p:cNvSpPr>
          <p:nvPr>
            <p:ph type="title"/>
          </p:nvPr>
        </p:nvSpPr>
        <p:spPr/>
        <p:txBody>
          <a:bodyPr/>
          <a:lstStyle/>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Random Forest Classifier</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C4FD59A5-780F-4FE3-73B6-74A536E12F50}"/>
              </a:ext>
            </a:extLst>
          </p:cNvPr>
          <p:cNvPicPr>
            <a:picLocks noChangeAspect="1"/>
          </p:cNvPicPr>
          <p:nvPr/>
        </p:nvPicPr>
        <p:blipFill>
          <a:blip r:embed="rId2"/>
          <a:stretch>
            <a:fillRect/>
          </a:stretch>
        </p:blipFill>
        <p:spPr>
          <a:xfrm>
            <a:off x="396317" y="1406531"/>
            <a:ext cx="6938965" cy="4490416"/>
          </a:xfrm>
          <a:prstGeom prst="rect">
            <a:avLst/>
          </a:prstGeom>
        </p:spPr>
      </p:pic>
      <p:pic>
        <p:nvPicPr>
          <p:cNvPr id="5" name="Picture 4">
            <a:extLst>
              <a:ext uri="{FF2B5EF4-FFF2-40B4-BE49-F238E27FC236}">
                <a16:creationId xmlns:a16="http://schemas.microsoft.com/office/drawing/2014/main" id="{14549EF5-B77B-D532-BA01-C7AF41EDBB46}"/>
              </a:ext>
            </a:extLst>
          </p:cNvPr>
          <p:cNvPicPr>
            <a:picLocks noChangeAspect="1"/>
          </p:cNvPicPr>
          <p:nvPr/>
        </p:nvPicPr>
        <p:blipFill>
          <a:blip r:embed="rId3"/>
          <a:stretch>
            <a:fillRect/>
          </a:stretch>
        </p:blipFill>
        <p:spPr>
          <a:xfrm>
            <a:off x="7170343" y="3279709"/>
            <a:ext cx="4625340" cy="2857500"/>
          </a:xfrm>
          <a:prstGeom prst="rect">
            <a:avLst/>
          </a:prstGeom>
        </p:spPr>
      </p:pic>
    </p:spTree>
    <p:extLst>
      <p:ext uri="{BB962C8B-B14F-4D97-AF65-F5344CB8AC3E}">
        <p14:creationId xmlns:p14="http://schemas.microsoft.com/office/powerpoint/2010/main" val="3987161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C8FBA-76DE-1F58-6958-807B5991D603}"/>
              </a:ext>
            </a:extLst>
          </p:cNvPr>
          <p:cNvSpPr>
            <a:spLocks noGrp="1"/>
          </p:cNvSpPr>
          <p:nvPr>
            <p:ph type="title"/>
          </p:nvPr>
        </p:nvSpPr>
        <p:spPr/>
        <p:txBody>
          <a:bodyPr/>
          <a:lstStyle/>
          <a:p>
            <a:r>
              <a:rPr lang="en-US" b="1" dirty="0"/>
              <a:t>ACCURACY COMPARISON</a:t>
            </a:r>
            <a:endParaRPr lang="en-IN" b="1" dirty="0"/>
          </a:p>
        </p:txBody>
      </p:sp>
      <p:pic>
        <p:nvPicPr>
          <p:cNvPr id="4" name="Picture 3">
            <a:extLst>
              <a:ext uri="{FF2B5EF4-FFF2-40B4-BE49-F238E27FC236}">
                <a16:creationId xmlns:a16="http://schemas.microsoft.com/office/drawing/2014/main" id="{D49D41CE-14F4-8F14-FBE7-9757B85BFF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34302" y="1440180"/>
            <a:ext cx="5731510" cy="4892040"/>
          </a:xfrm>
          <a:prstGeom prst="rect">
            <a:avLst/>
          </a:prstGeom>
          <a:noFill/>
          <a:ln>
            <a:noFill/>
          </a:ln>
        </p:spPr>
      </p:pic>
    </p:spTree>
    <p:extLst>
      <p:ext uri="{BB962C8B-B14F-4D97-AF65-F5344CB8AC3E}">
        <p14:creationId xmlns:p14="http://schemas.microsoft.com/office/powerpoint/2010/main" val="3816940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4EA16F-F42C-A30C-D0E0-DA18C77EAFF2}"/>
              </a:ext>
            </a:extLst>
          </p:cNvPr>
          <p:cNvSpPr txBox="1"/>
          <p:nvPr/>
        </p:nvSpPr>
        <p:spPr>
          <a:xfrm>
            <a:off x="643812" y="718002"/>
            <a:ext cx="10870164" cy="4650440"/>
          </a:xfrm>
          <a:prstGeom prst="rect">
            <a:avLst/>
          </a:prstGeom>
          <a:noFill/>
        </p:spPr>
        <p:txBody>
          <a:bodyPr wrap="square">
            <a:spAutoFit/>
          </a:bodyPr>
          <a:lstStyle/>
          <a:p>
            <a:pPr algn="ctr">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study successfully developed and evaluated a machine learning-based approach for predicting lung cancer risk using clinical, demographic, and imaging data. By exploring various machine learning models, including Logistic Regression, Decision Trees, Random Forest, Support Vector Machines techniques, this research demonstrated the potential of these methods in identifying high-risk individuals.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pPr>
            <a:r>
              <a:rPr lang="en-IN" sz="1800" dirty="0">
                <a:effectLst/>
                <a:latin typeface="Times New Roman" panose="02020603050405020304" pitchFamily="18" charset="0"/>
                <a:ea typeface="Calibri" panose="020F0502020204030204" pitchFamily="34" charset="0"/>
              </a:rPr>
              <a:t>The results indicate that ensemble methods exhibit superior accuracy in predicting lung cancer when trained on large, well-</a:t>
            </a:r>
            <a:r>
              <a:rPr lang="en-IN" sz="1800" dirty="0" err="1">
                <a:effectLst/>
                <a:latin typeface="Times New Roman" panose="02020603050405020304" pitchFamily="18" charset="0"/>
                <a:ea typeface="Calibri" panose="020F0502020204030204" pitchFamily="34" charset="0"/>
              </a:rPr>
              <a:t>labeled</a:t>
            </a:r>
            <a:r>
              <a:rPr lang="en-IN" sz="1800" dirty="0">
                <a:effectLst/>
                <a:latin typeface="Times New Roman" panose="02020603050405020304" pitchFamily="18" charset="0"/>
                <a:ea typeface="Calibri" panose="020F0502020204030204" pitchFamily="34" charset="0"/>
              </a:rPr>
              <a:t> datasets. Furthermore, feature selection and engineering techniques played a critical role in improving model performance by identifying the most relevant predictors of lung cancer.</a:t>
            </a:r>
            <a:endParaRPr lang="en-IN" dirty="0"/>
          </a:p>
        </p:txBody>
      </p:sp>
    </p:spTree>
    <p:extLst>
      <p:ext uri="{BB962C8B-B14F-4D97-AF65-F5344CB8AC3E}">
        <p14:creationId xmlns:p14="http://schemas.microsoft.com/office/powerpoint/2010/main" val="3741593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3141</TotalTime>
  <Words>680</Words>
  <Application>Microsoft Office PowerPoint</Application>
  <PresentationFormat>Widescreen</PresentationFormat>
  <Paragraphs>86</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Aharoni</vt:lpstr>
      <vt:lpstr>Arial</vt:lpstr>
      <vt:lpstr>Calibri</vt:lpstr>
      <vt:lpstr>Calibri Light</vt:lpstr>
      <vt:lpstr>Cambria</vt:lpstr>
      <vt:lpstr>Symbol</vt:lpstr>
      <vt:lpstr>Times New Roman</vt:lpstr>
      <vt:lpstr>Office Theme</vt:lpstr>
      <vt:lpstr>PowerPoint Presentation</vt:lpstr>
      <vt:lpstr>AGENDA</vt:lpstr>
      <vt:lpstr>INTODUCTION</vt:lpstr>
      <vt:lpstr>What Is Lung Cancer? </vt:lpstr>
      <vt:lpstr>Lung cancer staging </vt:lpstr>
      <vt:lpstr>Symptoms and Causes</vt:lpstr>
      <vt:lpstr>System Requirements and Specifications </vt:lpstr>
      <vt:lpstr>System Requirements and Specifications </vt:lpstr>
      <vt:lpstr>PowerPoint Presentation</vt:lpstr>
      <vt:lpstr>SYSTEM IMPLEMENTATION</vt:lpstr>
      <vt:lpstr>PowerPoint Presentation</vt:lpstr>
      <vt:lpstr>PowerPoint Presentation</vt:lpstr>
      <vt:lpstr>Training and splitting the data </vt:lpstr>
      <vt:lpstr>Random Forest Classifier </vt:lpstr>
      <vt:lpstr>ACCURACY COMPARISON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EDA On IMDB Movies</dc:title>
  <dc:creator>akshinthalal sai sudheer</dc:creator>
  <cp:lastModifiedBy>zetacoding is</cp:lastModifiedBy>
  <cp:revision>22</cp:revision>
  <dcterms:created xsi:type="dcterms:W3CDTF">2023-09-05T06:52:47Z</dcterms:created>
  <dcterms:modified xsi:type="dcterms:W3CDTF">2024-10-26T05:57:05Z</dcterms:modified>
</cp:coreProperties>
</file>